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0aff0de3bbb4d77" /><Relationship Type="http://schemas.openxmlformats.org/officeDocument/2006/relationships/extended-properties" Target="/docProps/app.xml" Id="R933c767174544c49" /><Relationship Type="http://schemas.openxmlformats.org/officeDocument/2006/relationships/officeDocument" Target="/ppt/presentation.xml" Id="R7a95b9594d134dd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edd5e031bcf40f1"/>
  </p:sldMasterIdLst>
  <p:notesMasterIdLst>
    <p:notesMasterId xmlns:r="http://schemas.openxmlformats.org/officeDocument/2006/relationships" r:id="R06c40d22235f4531"/>
  </p:notesMasterIdLst>
  <p:sldIdLst>
    <p:sldId xmlns:r="http://schemas.openxmlformats.org/officeDocument/2006/relationships" id="256" r:id="Rd2fae71997ac4ff1"/>
    <p:sldId xmlns:r="http://schemas.openxmlformats.org/officeDocument/2006/relationships" id="257" r:id="Rbf060f104c894f61"/>
    <p:sldId xmlns:r="http://schemas.openxmlformats.org/officeDocument/2006/relationships" id="258" r:id="R3325f0e8c29d405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8fefb667d7f424c" /><Relationship Type="http://schemas.openxmlformats.org/officeDocument/2006/relationships/slideMaster" Target="/ppt/slideMasters/slideMaster1.xml" Id="R4edd5e031bcf40f1" /><Relationship Type="http://schemas.openxmlformats.org/officeDocument/2006/relationships/notesMaster" Target="/ppt/notesMasters/notesMaster1.xml" Id="R06c40d22235f4531" /><Relationship Type="http://schemas.openxmlformats.org/officeDocument/2006/relationships/presProps" Target="/ppt/presProps.xml" Id="R405aeb802b51495b" /><Relationship Type="http://schemas.openxmlformats.org/officeDocument/2006/relationships/tableStyles" Target="/ppt/tableStyles.xml" Id="R2c595538619e40b7" /><Relationship Type="http://schemas.openxmlformats.org/officeDocument/2006/relationships/slide" Target="/ppt/slides/slide1.xml" Id="Rd2fae71997ac4ff1" /><Relationship Type="http://schemas.openxmlformats.org/officeDocument/2006/relationships/slide" Target="/ppt/slides/slide2.xml" Id="Rbf060f104c894f61" /><Relationship Type="http://schemas.openxmlformats.org/officeDocument/2006/relationships/slide" Target="/ppt/slides/slide3.xml" Id="R3325f0e8c29d405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754fad60ef34cc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51b27f86e184eaf" /><Relationship Type="http://schemas.openxmlformats.org/officeDocument/2006/relationships/notesMaster" Target="/ppt/notesMasters/notesMaster1.xml" Id="R71e7217f967a442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30e5a4296884d0d" /><Relationship Type="http://schemas.openxmlformats.org/officeDocument/2006/relationships/notesMaster" Target="/ppt/notesMasters/notesMaster1.xml" Id="Rc67327e3c1ea40d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74d725d63e8483c" /><Relationship Type="http://schemas.openxmlformats.org/officeDocument/2006/relationships/notesMaster" Target="/ppt/notesMasters/notesMaster1.xml" Id="Ra9895c3b6d3a4ac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本地论文：D:/桌面/COMSOL不同围压条件下单孔水力压裂裂纹的拓展规律研究.docx</a:t>
            </a:r>
          </a:p>
          <a:p xmlns:a="http://schemas.openxmlformats.org/drawingml/2006/main">
            <a:r>
              <a:t>- 本地界面截图：generated/group_meeting_assets/article_learning_ui.png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本地论文：D:/桌面/COMSOL不同围压条件下单孔水力压裂裂纹的拓展规律研究.docx</a:t>
            </a:r>
          </a:p>
          <a:p xmlns:a="http://schemas.openxmlformats.org/drawingml/2006/main">
            <a:r>
              <a:t>- 本地流程：generated/staged_workflows/Build_a_COMSOL_hydraulic_fracturing_mode_20260803111808.workflow.json</a:t>
            </a:r>
          </a:p>
          <a:p xmlns:a="http://schemas.openxmlformats.org/drawingml/2006/main">
            <a:r>
              <a:t>- 本地界面截图：generated/group_meeting_assets/code_analysis_ui.png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水力压裂建模包：generated/demo_hydraulic_fracture_package/Build_a_COMSOL_hydraulic_fracturing_mode_20260803111808.final_modeling_package.md</a:t>
            </a:r>
          </a:p>
          <a:p xmlns:a="http://schemas.openxmlformats.org/drawingml/2006/main">
            <a:r>
              <a:t>- 代码审查：generated/demo_hydraulic_fracture_package/final_code/build_a_comsol_hydraulic_fracturing_mode_20260803111808.m</a:t>
            </a:r>
          </a:p>
          <a:p xmlns:a="http://schemas.openxmlformats.org/drawingml/2006/main">
            <a:r>
              <a:t>- 热传导标杆训练记录：项目 generated 目录内的 COMSOL 训练与验证结果。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4d616d4aff48c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02030acd2e34fc9" /><Relationship Type="http://schemas.openxmlformats.org/officeDocument/2006/relationships/slideLayout" Target="/ppt/slideLayouts/slideLayout1.xml" Id="Re89d2960e716437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89d2960e716437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8a9697f22a4db6" /><Relationship Type="http://schemas.openxmlformats.org/officeDocument/2006/relationships/image" Target="/ppt/media/image.jpeg" Id="Ra9f40a2bf3a2402b" /><Relationship Type="http://schemas.openxmlformats.org/officeDocument/2006/relationships/notesSlide" Target="/ppt/notesSlides/notesSlide1.xml" Id="Re26a6484ee724b0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d1e833fdfc4ddd" /><Relationship Type="http://schemas.openxmlformats.org/officeDocument/2006/relationships/image" Target="/ppt/media/image2.jpeg" Id="Rc64e5a5cc2cf4b3d" /><Relationship Type="http://schemas.openxmlformats.org/officeDocument/2006/relationships/notesSlide" Target="/ppt/notesSlides/notesSlide2.xml" Id="R89284e06c8c54ff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5f2b711f4144b8" /><Relationship Type="http://schemas.openxmlformats.org/officeDocument/2006/relationships/notesSlide" Target="/ppt/notesSlides/notesSlide3.xml" Id="R0492b453e7504ea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">
            <a:extLst xmlns:a="http://schemas.openxmlformats.org/drawingml/2006/main">
              <a:ext uri="{FF2B5EF4-FFF2-40B4-BE49-F238E27FC236}">
                <a16:creationId xmlns:a16="http://schemas.microsoft.com/office/drawing/2014/main" id="{E37CAE56-953B-4E96-ABEF-787566C11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5476875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水力压裂论文驱动的小模型建模演示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BFABA29-D804-41F2-93AA-86D786FF3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62150"/>
            <a:ext cx="52197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D6470"/>
                </a:solidFill>
                <a:latin typeface="Arial"/>
                <a:ea typeface="Arial"/>
                <a:cs typeface="Arial"/>
              </a:rPr>
              <a:t>将 Word 论文的研究对象、参数与物理问题，整理为可审核的 COMSOL 分步建模任务。</a:t>
            </a:r>
          </a:p>
        </p:txBody>
      </p:sp>
      <p:sp>
        <p:nvSpPr>
          <p:cNvPr id="3" name="accent-rule">
            <a:extLst xmlns:a="http://schemas.openxmlformats.org/drawingml/2006/main">
              <a:ext uri="{FF2B5EF4-FFF2-40B4-BE49-F238E27FC236}">
                <a16:creationId xmlns:a16="http://schemas.microsoft.com/office/drawing/2014/main" id="{3F24D48C-15A0-46B2-B4FE-8324F90B5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0"/>
            <a:ext cx="1428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4" name="label">
            <a:extLst xmlns:a="http://schemas.openxmlformats.org/drawingml/2006/main">
              <a:ext uri="{FF2B5EF4-FFF2-40B4-BE49-F238E27FC236}">
                <a16:creationId xmlns:a16="http://schemas.microsoft.com/office/drawing/2014/main" id="{939AB987-674F-4909-A4FF-816328A47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D6470"/>
                </a:solidFill>
                <a:latin typeface="Arial"/>
                <a:ea typeface="Arial"/>
                <a:cs typeface="Arial"/>
              </a:rPr>
              <a:t>本次输入</a:t>
            </a:r>
          </a:p>
        </p:txBody>
      </p:sp>
      <p:sp>
        <p:nvSpPr>
          <p:cNvPr id="5" name="paper-name">
            <a:extLst xmlns:a="http://schemas.openxmlformats.org/drawingml/2006/main">
              <a:ext uri="{FF2B5EF4-FFF2-40B4-BE49-F238E27FC236}">
                <a16:creationId xmlns:a16="http://schemas.microsoft.com/office/drawing/2014/main" id="{D742C51D-C792-4DD3-B982-206FDF267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81450"/>
            <a:ext cx="5219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《COMSOL不同围压条件下单孔水力压裂裂纹的拓展规律研究》</a:t>
            </a:r>
          </a:p>
        </p:txBody>
      </p:sp>
      <p:sp>
        <p:nvSpPr>
          <p:cNvPr id="6" name="evidence">
            <a:extLst xmlns:a="http://schemas.openxmlformats.org/drawingml/2006/main">
              <a:ext uri="{FF2B5EF4-FFF2-40B4-BE49-F238E27FC236}">
                <a16:creationId xmlns:a16="http://schemas.microsoft.com/office/drawing/2014/main" id="{7F448573-F800-48A7-8389-5303CEDCC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81600"/>
            <a:ext cx="5238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D6470"/>
                </a:solidFill>
                <a:latin typeface="Arial"/>
                <a:ea typeface="Arial"/>
                <a:cs typeface="Arial"/>
              </a:rPr>
              <a:t>论文解析：23 段文本 · 9 类参数 · 8 个相似案例检索结果</a:t>
            </a:r>
          </a:p>
        </p:txBody>
      </p:sp>
      <p:sp>
        <p:nvSpPr>
          <p:cNvPr id="7" name="article-shot-frame">
            <a:extLst xmlns:a="http://schemas.openxmlformats.org/drawingml/2006/main">
              <a:ext uri="{FF2B5EF4-FFF2-40B4-BE49-F238E27FC236}">
                <a16:creationId xmlns:a16="http://schemas.microsoft.com/office/drawing/2014/main" id="{FB6FFB1C-1064-4C6C-B1CB-5837F7309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00050"/>
            <a:ext cx="5524500" cy="560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f40a2bf3a2402b"/>
          <a:srcRect xmlns:a="http://schemas.openxmlformats.org/drawingml/2006/main" l="22271" t="0" r="2227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62700" y="495300"/>
            <a:ext cx="5334000" cy="5410200"/>
          </a:xfrm>
          <a:prstGeom xmlns:a="http://schemas.openxmlformats.org/drawingml/2006/main" prst="rect">
            <a:avLst/>
          </a:prstGeom>
        </p:spPr>
      </p:pic>
      <p:sp>
        <p:nvSpPr>
          <p:cNvPr id="9" name="footer-rule">
            <a:extLst xmlns:a="http://schemas.openxmlformats.org/drawingml/2006/main">
              <a:ext uri="{FF2B5EF4-FFF2-40B4-BE49-F238E27FC236}">
                <a16:creationId xmlns:a16="http://schemas.microsoft.com/office/drawing/2014/main" id="{5A644446-C579-4B04-A8EE-09835CA22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F137E97D-2FEF-483A-9699-365B5BF33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34125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6470"/>
                </a:solidFill>
                <a:latin typeface="Arial"/>
                <a:ea typeface="Arial"/>
                <a:cs typeface="Arial"/>
              </a:rPr>
              <a:t>本地论文与 COMSOL 小模型运行记录</a:t>
            </a:r>
          </a:p>
        </p:txBody>
      </p:sp>
      <p:sp>
        <p:nvSpPr>
          <p:cNvPr id="11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6EC66593-B8E0-458D-AD8D-369B83FEC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055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D647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4722300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title">
            <a:extLst xmlns:a="http://schemas.openxmlformats.org/drawingml/2006/main">
              <a:ext uri="{FF2B5EF4-FFF2-40B4-BE49-F238E27FC236}">
                <a16:creationId xmlns:a16="http://schemas.microsoft.com/office/drawing/2014/main" id="{A04C3BE5-4889-43EC-9B3B-E920B38E9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8667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论文内容已被转成七步建模流程与代码包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0D35F0B-D926-486E-8E23-5B17A36B2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0965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D6470"/>
                </a:solidFill>
                <a:latin typeface="Arial"/>
                <a:ea typeface="Arial"/>
                <a:cs typeface="Arial"/>
              </a:rPr>
              <a:t>每一步都保留判断依据，当前结果用于方案审核，而不是直接求解。</a:t>
            </a:r>
          </a:p>
        </p:txBody>
      </p:sp>
      <p:sp>
        <p:nvSpPr>
          <p:cNvPr id="3" name="step-1">
            <a:extLst xmlns:a="http://schemas.openxmlformats.org/drawingml/2006/main">
              <a:ext uri="{FF2B5EF4-FFF2-40B4-BE49-F238E27FC236}">
                <a16:creationId xmlns:a16="http://schemas.microsoft.com/office/drawing/2014/main" id="{119BA622-13E9-453B-84C4-F93F2F428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00200"/>
            <a:ext cx="13906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step-text-1">
            <a:extLst xmlns:a="http://schemas.openxmlformats.org/drawingml/2006/main">
              <a:ext uri="{FF2B5EF4-FFF2-40B4-BE49-F238E27FC236}">
                <a16:creationId xmlns:a16="http://schemas.microsoft.com/office/drawing/2014/main" id="{D6E9F73A-4459-4633-9695-27DA6CBC7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33550"/>
            <a:ext cx="1200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D6470"/>
                </a:solidFill>
                <a:latin typeface="Arial"/>
                <a:ea typeface="Arial"/>
                <a:cs typeface="Arial"/>
              </a:rPr>
              <a:t>1 物理场</a:t>
            </a:r>
          </a:p>
        </p:txBody>
      </p:sp>
      <p:sp>
        <p:nvSpPr>
          <p:cNvPr id="5" name="arrow-1">
            <a:extLst xmlns:a="http://schemas.openxmlformats.org/drawingml/2006/main">
              <a:ext uri="{FF2B5EF4-FFF2-40B4-BE49-F238E27FC236}">
                <a16:creationId xmlns:a16="http://schemas.microsoft.com/office/drawing/2014/main" id="{42557B17-3764-4CAB-A82B-56AE01DA5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1714500"/>
            <a:ext cx="19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D6470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6" name="step-2">
            <a:extLst xmlns:a="http://schemas.openxmlformats.org/drawingml/2006/main">
              <a:ext uri="{FF2B5EF4-FFF2-40B4-BE49-F238E27FC236}">
                <a16:creationId xmlns:a16="http://schemas.microsoft.com/office/drawing/2014/main" id="{4B2BC448-CE03-452D-93D2-B05F8D09F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1600200"/>
            <a:ext cx="13906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step-text-2">
            <a:extLst xmlns:a="http://schemas.openxmlformats.org/drawingml/2006/main">
              <a:ext uri="{FF2B5EF4-FFF2-40B4-BE49-F238E27FC236}">
                <a16:creationId xmlns:a16="http://schemas.microsoft.com/office/drawing/2014/main" id="{9D35BEBE-C7AF-4493-9CE3-E5FEC326E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1733550"/>
            <a:ext cx="1200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D6470"/>
                </a:solidFill>
                <a:latin typeface="Arial"/>
                <a:ea typeface="Arial"/>
                <a:cs typeface="Arial"/>
              </a:rPr>
              <a:t>2 材料</a:t>
            </a:r>
          </a:p>
        </p:txBody>
      </p:sp>
      <p:sp>
        <p:nvSpPr>
          <p:cNvPr id="8" name="arrow-2">
            <a:extLst xmlns:a="http://schemas.openxmlformats.org/drawingml/2006/main">
              <a:ext uri="{FF2B5EF4-FFF2-40B4-BE49-F238E27FC236}">
                <a16:creationId xmlns:a16="http://schemas.microsoft.com/office/drawing/2014/main" id="{3C99AACF-E23D-40FE-9F3A-A448373BA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714500"/>
            <a:ext cx="19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D6470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9" name="step-3">
            <a:extLst xmlns:a="http://schemas.openxmlformats.org/drawingml/2006/main">
              <a:ext uri="{FF2B5EF4-FFF2-40B4-BE49-F238E27FC236}">
                <a16:creationId xmlns:a16="http://schemas.microsoft.com/office/drawing/2014/main" id="{C3CBBF9C-B460-4C15-BA26-D71B78A6E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600200"/>
            <a:ext cx="13906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step-text-3">
            <a:extLst xmlns:a="http://schemas.openxmlformats.org/drawingml/2006/main">
              <a:ext uri="{FF2B5EF4-FFF2-40B4-BE49-F238E27FC236}">
                <a16:creationId xmlns:a16="http://schemas.microsoft.com/office/drawing/2014/main" id="{D3B1EC91-E18C-48E8-A8CA-9D3875D3C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733550"/>
            <a:ext cx="1200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D6470"/>
                </a:solidFill>
                <a:latin typeface="Arial"/>
                <a:ea typeface="Arial"/>
                <a:cs typeface="Arial"/>
              </a:rPr>
              <a:t>3 几何</a:t>
            </a:r>
          </a:p>
        </p:txBody>
      </p:sp>
      <p:sp>
        <p:nvSpPr>
          <p:cNvPr id="11" name="arrow-3">
            <a:extLst xmlns:a="http://schemas.openxmlformats.org/drawingml/2006/main">
              <a:ext uri="{FF2B5EF4-FFF2-40B4-BE49-F238E27FC236}">
                <a16:creationId xmlns:a16="http://schemas.microsoft.com/office/drawing/2014/main" id="{31D1295C-CC4A-4B94-8072-43105F873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1714500"/>
            <a:ext cx="19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D6470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2" name="step-4">
            <a:extLst xmlns:a="http://schemas.openxmlformats.org/drawingml/2006/main">
              <a:ext uri="{FF2B5EF4-FFF2-40B4-BE49-F238E27FC236}">
                <a16:creationId xmlns:a16="http://schemas.microsoft.com/office/drawing/2014/main" id="{61506DAB-8725-43BC-A731-2157627AD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1600200"/>
            <a:ext cx="13906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step-text-4">
            <a:extLst xmlns:a="http://schemas.openxmlformats.org/drawingml/2006/main">
              <a:ext uri="{FF2B5EF4-FFF2-40B4-BE49-F238E27FC236}">
                <a16:creationId xmlns:a16="http://schemas.microsoft.com/office/drawing/2014/main" id="{4239B9D6-0321-46AD-A682-752D036E3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1733550"/>
            <a:ext cx="1200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D6470"/>
                </a:solidFill>
                <a:latin typeface="Arial"/>
                <a:ea typeface="Arial"/>
                <a:cs typeface="Arial"/>
              </a:rPr>
              <a:t>4 网格</a:t>
            </a:r>
          </a:p>
        </p:txBody>
      </p:sp>
      <p:sp>
        <p:nvSpPr>
          <p:cNvPr id="14" name="arrow-4">
            <a:extLst xmlns:a="http://schemas.openxmlformats.org/drawingml/2006/main">
              <a:ext uri="{FF2B5EF4-FFF2-40B4-BE49-F238E27FC236}">
                <a16:creationId xmlns:a16="http://schemas.microsoft.com/office/drawing/2014/main" id="{C78C8687-017C-4877-8D65-7C1D00D7E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714500"/>
            <a:ext cx="19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D6470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5" name="step-5">
            <a:extLst xmlns:a="http://schemas.openxmlformats.org/drawingml/2006/main">
              <a:ext uri="{FF2B5EF4-FFF2-40B4-BE49-F238E27FC236}">
                <a16:creationId xmlns:a16="http://schemas.microsoft.com/office/drawing/2014/main" id="{7E112395-BA7F-43FF-8A00-64D0DCB69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600200"/>
            <a:ext cx="13906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step-text-5">
            <a:extLst xmlns:a="http://schemas.openxmlformats.org/drawingml/2006/main">
              <a:ext uri="{FF2B5EF4-FFF2-40B4-BE49-F238E27FC236}">
                <a16:creationId xmlns:a16="http://schemas.microsoft.com/office/drawing/2014/main" id="{41F48B0C-08C0-4C3B-A608-B2FCD8C7B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733550"/>
            <a:ext cx="1200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D6470"/>
                </a:solidFill>
                <a:latin typeface="Arial"/>
                <a:ea typeface="Arial"/>
                <a:cs typeface="Arial"/>
              </a:rPr>
              <a:t>5 研究</a:t>
            </a:r>
          </a:p>
        </p:txBody>
      </p:sp>
      <p:sp>
        <p:nvSpPr>
          <p:cNvPr id="17" name="arrow-5">
            <a:extLst xmlns:a="http://schemas.openxmlformats.org/drawingml/2006/main">
              <a:ext uri="{FF2B5EF4-FFF2-40B4-BE49-F238E27FC236}">
                <a16:creationId xmlns:a16="http://schemas.microsoft.com/office/drawing/2014/main" id="{8CB2544B-1213-44CF-A58B-074F6E245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714500"/>
            <a:ext cx="19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D6470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8" name="step-6">
            <a:extLst xmlns:a="http://schemas.openxmlformats.org/drawingml/2006/main">
              <a:ext uri="{FF2B5EF4-FFF2-40B4-BE49-F238E27FC236}">
                <a16:creationId xmlns:a16="http://schemas.microsoft.com/office/drawing/2014/main" id="{8A7030B3-8A61-4C83-BD8E-3F275313F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1600200"/>
            <a:ext cx="13906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step-text-6">
            <a:extLst xmlns:a="http://schemas.openxmlformats.org/drawingml/2006/main">
              <a:ext uri="{FF2B5EF4-FFF2-40B4-BE49-F238E27FC236}">
                <a16:creationId xmlns:a16="http://schemas.microsoft.com/office/drawing/2014/main" id="{6DC3EB2E-3B33-4A22-BA1F-0D7E09FAB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1733550"/>
            <a:ext cx="1200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D6470"/>
                </a:solidFill>
                <a:latin typeface="Arial"/>
                <a:ea typeface="Arial"/>
                <a:cs typeface="Arial"/>
              </a:rPr>
              <a:t>6 结果</a:t>
            </a:r>
          </a:p>
        </p:txBody>
      </p:sp>
      <p:sp>
        <p:nvSpPr>
          <p:cNvPr id="20" name="arrow-6">
            <a:extLst xmlns:a="http://schemas.openxmlformats.org/drawingml/2006/main">
              <a:ext uri="{FF2B5EF4-FFF2-40B4-BE49-F238E27FC236}">
                <a16:creationId xmlns:a16="http://schemas.microsoft.com/office/drawing/2014/main" id="{781A2417-01FF-4AC8-8D61-7C1D16767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1714500"/>
            <a:ext cx="19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D6470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1" name="step-7">
            <a:extLst xmlns:a="http://schemas.openxmlformats.org/drawingml/2006/main">
              <a:ext uri="{FF2B5EF4-FFF2-40B4-BE49-F238E27FC236}">
                <a16:creationId xmlns:a16="http://schemas.microsoft.com/office/drawing/2014/main" id="{723485AC-BAE2-4D69-BB54-AA3CEF502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1600200"/>
            <a:ext cx="13906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22" name="step-text-7">
            <a:extLst xmlns:a="http://schemas.openxmlformats.org/drawingml/2006/main">
              <a:ext uri="{FF2B5EF4-FFF2-40B4-BE49-F238E27FC236}">
                <a16:creationId xmlns:a16="http://schemas.microsoft.com/office/drawing/2014/main" id="{85D18293-B5E6-42C6-B92F-2ADC9119B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1733550"/>
            <a:ext cx="1200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7 代码包</a:t>
            </a:r>
          </a:p>
        </p:txBody>
      </p:sp>
      <p:sp>
        <p:nvSpPr>
          <p:cNvPr id="23" name="modeling-summary">
            <a:extLst xmlns:a="http://schemas.openxmlformats.org/drawingml/2006/main">
              <a:ext uri="{FF2B5EF4-FFF2-40B4-BE49-F238E27FC236}">
                <a16:creationId xmlns:a16="http://schemas.microsoft.com/office/drawing/2014/main" id="{327CEB87-BCD9-42DC-8456-B4EF618A1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57450"/>
            <a:ext cx="5219700" cy="3219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4" name="judgement-title">
            <a:extLst xmlns:a="http://schemas.openxmlformats.org/drawingml/2006/main">
              <a:ext uri="{FF2B5EF4-FFF2-40B4-BE49-F238E27FC236}">
                <a16:creationId xmlns:a16="http://schemas.microsoft.com/office/drawing/2014/main" id="{6C2D2B6B-1444-4C39-AE9E-21306E2A1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860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本次建模判断</a:t>
            </a:r>
          </a:p>
        </p:txBody>
      </p:sp>
      <p:sp>
        <p:nvSpPr>
          <p:cNvPr id="25" name="judgement-copy">
            <a:extLst xmlns:a="http://schemas.openxmlformats.org/drawingml/2006/main">
              <a:ext uri="{FF2B5EF4-FFF2-40B4-BE49-F238E27FC236}">
                <a16:creationId xmlns:a16="http://schemas.microsoft.com/office/drawing/2014/main" id="{12472687-122E-4473-BC45-F1F14F723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24200"/>
            <a:ext cx="45529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固体力学 + 孔隙流/达西流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裂纹：相场或内聚区二选一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2D 平面应变；300 mm 方域，中心 15 mm 钻孔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围压、注入压力与煤层非均质性作为主要工况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钻孔和预期裂纹区局部加密网格</a:t>
            </a:r>
          </a:p>
        </p:txBody>
      </p:sp>
      <p:sp>
        <p:nvSpPr>
          <p:cNvPr id="26" name="review-warning">
            <a:extLst xmlns:a="http://schemas.openxmlformats.org/drawingml/2006/main">
              <a:ext uri="{FF2B5EF4-FFF2-40B4-BE49-F238E27FC236}">
                <a16:creationId xmlns:a16="http://schemas.microsoft.com/office/drawing/2014/main" id="{528261B0-A95A-4505-8946-DC2221E9B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05400"/>
            <a:ext cx="455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809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A13A2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A13A24"/>
                </a:solidFill>
                <a:latin typeface="Arial"/>
                <a:ea typeface="Arial"/>
                <a:cs typeface="Arial"/>
              </a:rPr>
              <a:t>生成状态：review_required；尚未对该水力压裂代码执行求解。</a:t>
            </a:r>
          </a:p>
        </p:txBody>
      </p:sp>
      <p:sp>
        <p:nvSpPr>
          <p:cNvPr id="27" name="code-shot-frame">
            <a:extLst xmlns:a="http://schemas.openxmlformats.org/drawingml/2006/main">
              <a:ext uri="{FF2B5EF4-FFF2-40B4-BE49-F238E27FC236}">
                <a16:creationId xmlns:a16="http://schemas.microsoft.com/office/drawing/2014/main" id="{9D7E0997-3AF2-4F59-8188-F9E22FAAB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457450"/>
            <a:ext cx="5886450" cy="3219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6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4e5a5cc2cf4b3d"/>
          <a:stretch xmlns:a="http://schemas.openxmlformats.org/drawingml/2006/main"/>
        </p:blipFill>
        <p:spPr>
          <a:xfrm xmlns:a="http://schemas.openxmlformats.org/drawingml/2006/main">
            <a:off x="6562725" y="2571750"/>
            <a:ext cx="4572000" cy="2571750"/>
          </a:xfrm>
          <a:prstGeom xmlns:a="http://schemas.openxmlformats.org/drawingml/2006/main" prst="rect">
            <a:avLst/>
          </a:prstGeom>
        </p:spPr>
      </p:pic>
      <p:sp>
        <p:nvSpPr>
          <p:cNvPr id="29" name="code-evidence">
            <a:extLst xmlns:a="http://schemas.openxmlformats.org/drawingml/2006/main">
              <a:ext uri="{FF2B5EF4-FFF2-40B4-BE49-F238E27FC236}">
                <a16:creationId xmlns:a16="http://schemas.microsoft.com/office/drawing/2014/main" id="{D84245FD-E303-46A0-9DDF-56B927949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525780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D6470"/>
                </a:solidFill>
                <a:latin typeface="Arial"/>
                <a:ea typeface="Arial"/>
                <a:cs typeface="Arial"/>
              </a:rPr>
              <a:t>代码读回检查：130 行 · COMSOL API · 20 参数 · 3 物理接口钩子 · 8 项输出</a:t>
            </a:r>
          </a:p>
        </p:txBody>
      </p:sp>
      <p:sp>
        <p:nvSpPr>
          <p:cNvPr id="30" name="footer-rule">
            <a:extLst xmlns:a="http://schemas.openxmlformats.org/drawingml/2006/main">
              <a:ext uri="{FF2B5EF4-FFF2-40B4-BE49-F238E27FC236}">
                <a16:creationId xmlns:a16="http://schemas.microsoft.com/office/drawing/2014/main" id="{6BB6A3B0-7740-4A23-947C-D102F8E59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1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889F1655-BF61-49C4-87C0-C37C1E706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34125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6470"/>
                </a:solidFill>
                <a:latin typeface="Arial"/>
                <a:ea typeface="Arial"/>
                <a:cs typeface="Arial"/>
              </a:rPr>
              <a:t>本地论文与 COMSOL 小模型运行记录</a:t>
            </a:r>
          </a:p>
        </p:txBody>
      </p:sp>
      <p:sp>
        <p:nvSpPr>
          <p:cNvPr id="3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63F2C05E-4E8E-44B2-B5C8-CBC83E498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055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D6470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84763008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itle">
            <a:extLst xmlns:a="http://schemas.openxmlformats.org/drawingml/2006/main">
              <a:ext uri="{FF2B5EF4-FFF2-40B4-BE49-F238E27FC236}">
                <a16:creationId xmlns:a16="http://schemas.microsoft.com/office/drawing/2014/main" id="{4A04D4C0-6B9E-4E74-8279-E5CD7FA5E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结论：小模型已能组织建模，尚不能替代裂纹模型校准</a:t>
            </a:r>
          </a:p>
        </p:txBody>
      </p:sp>
      <p:sp>
        <p:nvSpPr>
          <p:cNvPr id="2" name="ready-panel">
            <a:extLst xmlns:a="http://schemas.openxmlformats.org/drawingml/2006/main">
              <a:ext uri="{FF2B5EF4-FFF2-40B4-BE49-F238E27FC236}">
                <a16:creationId xmlns:a16="http://schemas.microsoft.com/office/drawing/2014/main" id="{59DD703D-D8ED-4063-86FD-29A4EBD4C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33500"/>
            <a:ext cx="5314950" cy="392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AFE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3" name="ready-title">
            <a:extLst xmlns:a="http://schemas.openxmlformats.org/drawingml/2006/main">
              <a:ext uri="{FF2B5EF4-FFF2-40B4-BE49-F238E27FC236}">
                <a16:creationId xmlns:a16="http://schemas.microsoft.com/office/drawing/2014/main" id="{8C2E7E60-9026-4841-AE49-71D3F55B2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已经可用</a:t>
            </a:r>
          </a:p>
        </p:txBody>
      </p:sp>
      <p:sp>
        <p:nvSpPr>
          <p:cNvPr id="4" name="ready-copy">
            <a:extLst xmlns:a="http://schemas.openxmlformats.org/drawingml/2006/main">
              <a:ext uri="{FF2B5EF4-FFF2-40B4-BE49-F238E27FC236}">
                <a16:creationId xmlns:a16="http://schemas.microsoft.com/office/drawing/2014/main" id="{44B0BC60-1151-47E4-9010-D22395106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46291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读取 Word、PDF、MATLAB、Java 与案例资料</a:t>
            </a:r>
          </a:p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提取参数、总结理论、检索本地案例记忆</a:t>
            </a:r>
          </a:p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给出物理场、几何、材料、边界与研究建议</a:t>
            </a:r>
          </a:p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分步审批并输出 MATLAB/Java 建模骨架</a:t>
            </a:r>
          </a:p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已在更简单的二维热传导标杆中验证 COMSOL → CSV → 代理模型重训练闭环</a:t>
            </a:r>
          </a:p>
        </p:txBody>
      </p:sp>
      <p:sp>
        <p:nvSpPr>
          <p:cNvPr id="5" name="gap-panel">
            <a:extLst xmlns:a="http://schemas.openxmlformats.org/drawingml/2006/main">
              <a:ext uri="{FF2B5EF4-FFF2-40B4-BE49-F238E27FC236}">
                <a16:creationId xmlns:a16="http://schemas.microsoft.com/office/drawing/2014/main" id="{041EFA92-2005-45EE-B2A4-9FD1332A3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333500"/>
            <a:ext cx="5715000" cy="392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gap-title">
            <a:extLst xmlns:a="http://schemas.openxmlformats.org/drawingml/2006/main">
              <a:ext uri="{FF2B5EF4-FFF2-40B4-BE49-F238E27FC236}">
                <a16:creationId xmlns:a16="http://schemas.microsoft.com/office/drawing/2014/main" id="{3CDC32D4-C904-4EC6-8374-034A13E94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6192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本案例暴露的关键缺口</a:t>
            </a:r>
          </a:p>
        </p:txBody>
      </p:sp>
      <p:sp>
        <p:nvSpPr>
          <p:cNvPr id="7" name="gap-copy">
            <a:extLst xmlns:a="http://schemas.openxmlformats.org/drawingml/2006/main">
              <a:ext uri="{FF2B5EF4-FFF2-40B4-BE49-F238E27FC236}">
                <a16:creationId xmlns:a16="http://schemas.microsoft.com/office/drawing/2014/main" id="{30C5DE40-E910-4677-A461-0B07F1CD6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095500"/>
            <a:ext cx="50101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通用代码把二维几何误建为 3D，且缺少命名选择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流动接口应由层流改为孔隙介质/达西流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相场/内聚区裂纹与断裂参数尚未落实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生成代码仍需静态检查、mphserver 编译和结果校验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需用试验或现场数据标定起裂压力、路径和长度</a:t>
            </a:r>
          </a:p>
        </p:txBody>
      </p:sp>
      <p:sp>
        <p:nvSpPr>
          <p:cNvPr id="8" name="recommendation-band">
            <a:extLst xmlns:a="http://schemas.openxmlformats.org/drawingml/2006/main">
              <a:ext uri="{FF2B5EF4-FFF2-40B4-BE49-F238E27FC236}">
                <a16:creationId xmlns:a16="http://schemas.microsoft.com/office/drawing/2014/main" id="{1C21DBE2-75B2-4F33-83B1-447657E25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0"/>
            <a:ext cx="113919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9" name="recommendation">
            <a:extLst xmlns:a="http://schemas.openxmlformats.org/drawingml/2006/main">
              <a:ext uri="{FF2B5EF4-FFF2-40B4-BE49-F238E27FC236}">
                <a16:creationId xmlns:a16="http://schemas.microsoft.com/office/drawing/2014/main" id="{D9B15978-9BAA-4AC8-A321-93CC64B66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48325"/>
            <a:ext cx="1085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建议下一步：先建立一个可运行的单孔水力压裂参考模型，再用 20–50 组扫参案例训练自动建模与校验规则。</a:t>
            </a:r>
          </a:p>
        </p:txBody>
      </p:sp>
      <p:sp>
        <p:nvSpPr>
          <p:cNvPr id="10" name="footer-rule">
            <a:extLst xmlns:a="http://schemas.openxmlformats.org/drawingml/2006/main">
              <a:ext uri="{FF2B5EF4-FFF2-40B4-BE49-F238E27FC236}">
                <a16:creationId xmlns:a16="http://schemas.microsoft.com/office/drawing/2014/main" id="{32A88B6D-9254-4FA7-B520-CC3657CCD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784AE208-23A0-4BE8-8BED-07F49F122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34125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6470"/>
                </a:solidFill>
                <a:latin typeface="Arial"/>
                <a:ea typeface="Arial"/>
                <a:cs typeface="Arial"/>
              </a:rPr>
              <a:t>本地论文与 COMSOL 小模型运行记录</a:t>
            </a:r>
          </a:p>
        </p:txBody>
      </p:sp>
      <p:sp>
        <p:nvSpPr>
          <p:cNvPr id="1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B8599E36-AE22-49DB-87C7-C883D907F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055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D6470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96638030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2026-08-03T11:29:56.5700000Z</dcterms:created>
  <dcterms:modified xsi:type="dcterms:W3CDTF">2026-08-03T11:29:56.5700000Z</dcterms:modified>
</coreProperties>
</file>